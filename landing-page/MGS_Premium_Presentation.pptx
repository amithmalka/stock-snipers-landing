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14141"/>
                </a:solidFill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32004" cy="38404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2286000"/>
            <a:ext cx="8229600" cy="9144"/>
          </a:xfrm>
          <a:prstGeom prst="rect">
            <a:avLst/>
          </a:prstGeom>
          <a:solidFill>
            <a:srgbClr val="41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4389120"/>
            <a:ext cx="8229600" cy="9144"/>
          </a:xfrm>
          <a:prstGeom prst="rect">
            <a:avLst/>
          </a:prstGeom>
          <a:solidFill>
            <a:srgbClr val="41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00" b="1">
                <a:solidFill>
                  <a:srgbClr val="D4AF37"/>
                </a:solidFill>
              </a:rPr>
              <a:t>MGS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4688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5F5F5"/>
                </a:solidFill>
              </a:rPr>
              <a:t>Money Growth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3200400"/>
            <a:ext cx="32004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34747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2600" b="0">
                <a:solidFill>
                  <a:srgbClr val="8C8C8C"/>
                </a:solidFill>
              </a:rPr>
              <a:t>תוכנית הלימודים המלאה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0">
                <a:solidFill>
                  <a:srgbClr val="414141"/>
                </a:solidFill>
              </a:rPr>
              <a:t>עמית ואליאב מלכה  ·  הדרך שלכם לחופש כלכלי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D4AF37"/>
                </a:solidFill>
              </a:rPr>
              <a:t>MGS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14141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3600" b="1">
                <a:solidFill>
                  <a:srgbClr val="D4AF37"/>
                </a:solidFill>
              </a:rPr>
              <a:t>תוכנית הלימודים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234440"/>
            <a:ext cx="100584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0" y="1600200"/>
            <a:ext cx="438912" cy="438912"/>
          </a:xfrm>
          <a:prstGeom prst="ellipse">
            <a:avLst/>
          </a:prstGeom>
          <a:solidFill>
            <a:srgbClr val="161616"/>
          </a:solidFill>
          <a:ln w="1905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414141"/>
                </a:solidFill>
              </a:defRPr>
            </a:pPr>
            <a: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5544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100" b="1">
                <a:solidFill>
                  <a:srgbClr val="F5F5F5"/>
                </a:solidFill>
              </a:rPr>
              <a:t>מודול 0  ·  ההקדמה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87452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 b="0">
                <a:solidFill>
                  <a:srgbClr val="8C8C8C"/>
                </a:solidFill>
              </a:rPr>
              <a:t>למה בחרנו בדרך הזו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2212848"/>
            <a:ext cx="8686800" cy="9144"/>
          </a:xfrm>
          <a:prstGeom prst="rect">
            <a:avLst/>
          </a:prstGeom>
          <a:solidFill>
            <a:srgbClr val="41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0" y="2404872"/>
            <a:ext cx="438912" cy="438912"/>
          </a:xfrm>
          <a:prstGeom prst="ellipse">
            <a:avLst/>
          </a:prstGeom>
          <a:solidFill>
            <a:srgbClr val="161616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60A5FA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35915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100" b="1">
                <a:solidFill>
                  <a:srgbClr val="F5F5F5"/>
                </a:solidFill>
              </a:rPr>
              <a:t>מודול 1  ·  היסודות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67919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 b="0">
                <a:solidFill>
                  <a:srgbClr val="8C8C8C"/>
                </a:solidFill>
              </a:rPr>
              <a:t>שוק ההון · אינפלציה · ריבית דריבית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3017520"/>
            <a:ext cx="8686800" cy="9144"/>
          </a:xfrm>
          <a:prstGeom prst="rect">
            <a:avLst/>
          </a:prstGeom>
          <a:solidFill>
            <a:srgbClr val="41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0" y="3209544"/>
            <a:ext cx="438912" cy="438912"/>
          </a:xfrm>
          <a:prstGeom prst="ellipse">
            <a:avLst/>
          </a:prstGeom>
          <a:solidFill>
            <a:srgbClr val="16161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D4AF37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16382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100" b="1">
                <a:solidFill>
                  <a:srgbClr val="F5F5F5"/>
                </a:solidFill>
              </a:rPr>
              <a:t>מודול 2  ·  האסטרטגיה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483864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 b="0">
                <a:solidFill>
                  <a:srgbClr val="8C8C8C"/>
                </a:solidFill>
              </a:rPr>
              <a:t>S&amp;P 500 · Nasdaq · SCHD · Bitcoin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3822192"/>
            <a:ext cx="8686800" cy="9144"/>
          </a:xfrm>
          <a:prstGeom prst="rect">
            <a:avLst/>
          </a:prstGeom>
          <a:solidFill>
            <a:srgbClr val="41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0" y="4014216"/>
            <a:ext cx="438912" cy="438912"/>
          </a:xfrm>
          <a:prstGeom prst="ellipse">
            <a:avLst/>
          </a:prstGeom>
          <a:solidFill>
            <a:srgbClr val="16161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4D399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96849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100" b="1">
                <a:solidFill>
                  <a:srgbClr val="F5F5F5"/>
                </a:solidFill>
              </a:rPr>
              <a:t>מודול 3  ·  הפרקטיקה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288536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 b="0">
                <a:solidFill>
                  <a:srgbClr val="8C8C8C"/>
                </a:solidFill>
              </a:rPr>
              <a:t>ברוקר · מחשבון MGS · הזרקת הון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4626864"/>
            <a:ext cx="8686800" cy="9144"/>
          </a:xfrm>
          <a:prstGeom prst="rect">
            <a:avLst/>
          </a:prstGeom>
          <a:solidFill>
            <a:srgbClr val="41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58400" y="4818888"/>
            <a:ext cx="438912" cy="438912"/>
          </a:xfrm>
          <a:prstGeom prst="ellipse">
            <a:avLst/>
          </a:prstGeom>
          <a:solidFill>
            <a:srgbClr val="161616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A78BFA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77316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100" b="1">
                <a:solidFill>
                  <a:srgbClr val="F5F5F5"/>
                </a:solidFill>
              </a:rPr>
              <a:t>מודול 4  ·  חופש כלכלי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09320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 b="0">
                <a:solidFill>
                  <a:srgbClr val="8C8C8C"/>
                </a:solidFill>
              </a:rPr>
              <a:t>חוק 4% · תזרים · פרישה מוקדמת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5431536"/>
            <a:ext cx="8686800" cy="9144"/>
          </a:xfrm>
          <a:prstGeom prst="rect">
            <a:avLst/>
          </a:prstGeom>
          <a:solidFill>
            <a:srgbClr val="41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58400" y="5623560"/>
            <a:ext cx="438912" cy="438912"/>
          </a:xfrm>
          <a:prstGeom prst="ellipse">
            <a:avLst/>
          </a:prstGeom>
          <a:solidFill>
            <a:srgbClr val="16161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5778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100" b="1">
                <a:solidFill>
                  <a:srgbClr val="F5F5F5"/>
                </a:solidFill>
              </a:rPr>
              <a:t>מודול 5  ·  אוטומציה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9788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 b="0">
                <a:solidFill>
                  <a:srgbClr val="8C8C8C"/>
                </a:solidFill>
              </a:rPr>
              <a:t>מיסוי · שגר ושכח · קהילת ליווי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14141"/>
                </a:solidFill>
              </a:defRPr>
            </a:pPr>
            <a: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2011680"/>
            <a:ext cx="731520" cy="914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89320" y="1645920"/>
            <a:ext cx="9144" cy="7315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4630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2200" b="0">
                <a:solidFill>
                  <a:srgbClr val="414141"/>
                </a:solidFill>
              </a:rPr>
              <a:t>מודול 0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2651760"/>
            <a:ext cx="256032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4800" b="1">
                <a:solidFill>
                  <a:srgbClr val="D4AF37"/>
                </a:solidFill>
              </a:rPr>
              <a:t>ההקדמה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2200" b="0">
                <a:solidFill>
                  <a:srgbClr val="8C8C8C"/>
                </a:solidFill>
              </a:rPr>
              <a:t>למה בחרנו בדרך הזו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D4AF37"/>
                </a:solidFill>
              </a:rPr>
              <a:t>MGS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14141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800" b="1">
                <a:solidFill>
                  <a:srgbClr val="F5F5F5"/>
                </a:solidFill>
              </a:rPr>
              <a:t>נעים להכיר — החזון של משפחת מלכה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685800"/>
            <a:ext cx="2011680" cy="347472"/>
          </a:xfrm>
          <a:prstGeom prst="roundRect">
            <a:avLst/>
          </a:prstGeom>
          <a:solidFill>
            <a:srgbClr val="161616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D4AF37"/>
                </a:solidFill>
              </a:rPr>
              <a:t>שיעור 0.1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234440"/>
            <a:ext cx="100584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10515600" y="1627632"/>
            <a:ext cx="146304" cy="146304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000" b="0">
                <a:solidFill>
                  <a:srgbClr val="F5F5F5"/>
                </a:solidFill>
              </a:rPr>
              <a:t>עמית ואליאב, הורים ל-4 — החלטנו שאנחנו לא מחכים לגיל 67</a:t>
            </a:r>
          </a:p>
        </p:txBody>
      </p:sp>
      <p:sp>
        <p:nvSpPr>
          <p:cNvPr id="11" name="Diamond 10"/>
          <p:cNvSpPr/>
          <p:nvPr/>
        </p:nvSpPr>
        <p:spPr>
          <a:xfrm>
            <a:off x="10515600" y="2313432"/>
            <a:ext cx="146304" cy="146304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000" b="0">
                <a:solidFill>
                  <a:srgbClr val="F5F5F5"/>
                </a:solidFill>
              </a:rPr>
              <a:t>הפרדנו בין ״כסף של עבודה״ לבין ״כסף של עתיד״</a:t>
            </a:r>
          </a:p>
        </p:txBody>
      </p:sp>
      <p:sp>
        <p:nvSpPr>
          <p:cNvPr id="13" name="Diamond 12"/>
          <p:cNvSpPr/>
          <p:nvPr/>
        </p:nvSpPr>
        <p:spPr>
          <a:xfrm>
            <a:off x="10515600" y="2999232"/>
            <a:ext cx="146304" cy="146304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2608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000" b="0">
                <a:solidFill>
                  <a:srgbClr val="F5F5F5"/>
                </a:solidFill>
              </a:rPr>
              <a:t>בנינו מערכת שעובדת לבד — 15 דקות בחודש ותו לא</a:t>
            </a:r>
          </a:p>
        </p:txBody>
      </p:sp>
      <p:sp>
        <p:nvSpPr>
          <p:cNvPr id="15" name="Diamond 14"/>
          <p:cNvSpPr/>
          <p:nvPr/>
        </p:nvSpPr>
        <p:spPr>
          <a:xfrm>
            <a:off x="10515600" y="3685032"/>
            <a:ext cx="146304" cy="146304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1188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000" b="0">
                <a:solidFill>
                  <a:srgbClr val="F5F5F5"/>
                </a:solidFill>
              </a:rPr>
              <a:t>החופש שלנו: להיות ביחד בבית, לגדל את הילדים בשקט</a:t>
            </a:r>
          </a:p>
        </p:txBody>
      </p:sp>
      <p:sp>
        <p:nvSpPr>
          <p:cNvPr id="17" name="Diamond 16"/>
          <p:cNvSpPr/>
          <p:nvPr/>
        </p:nvSpPr>
        <p:spPr>
          <a:xfrm>
            <a:off x="10515600" y="4370832"/>
            <a:ext cx="146304" cy="146304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9768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000" b="0">
                <a:solidFill>
                  <a:srgbClr val="F5F5F5"/>
                </a:solidFill>
              </a:rPr>
              <a:t>ולהיות במקום שבו אפשר לתת לאחרים — לא רק לשרוד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D4AF37"/>
                </a:solidFill>
              </a:rPr>
              <a:t>MGS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14141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800" b="1">
                <a:solidFill>
                  <a:srgbClr val="F5F5F5"/>
                </a:solidFill>
              </a:rPr>
              <a:t>מפת הדרכים של הקורס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685800"/>
            <a:ext cx="2011680" cy="347472"/>
          </a:xfrm>
          <a:prstGeom prst="roundRect">
            <a:avLst/>
          </a:prstGeom>
          <a:solidFill>
            <a:srgbClr val="161616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D4AF37"/>
                </a:solidFill>
              </a:rPr>
              <a:t>שיעור 0.2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234440"/>
            <a:ext cx="100584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011680" cy="29260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691640"/>
            <a:ext cx="128016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745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D4AF37"/>
                </a:solidFill>
              </a:rPr>
              <a:t>01
נלמד את השפה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77440"/>
            <a:ext cx="1554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מושגי יסוד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שוק ההון מאפס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14600" y="2743200"/>
            <a:ext cx="201168" cy="201168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43200" y="1554480"/>
            <a:ext cx="2011680" cy="29260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08960" y="1691640"/>
            <a:ext cx="128016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18745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D4AF37"/>
                </a:solidFill>
              </a:rPr>
              <a:t>02
נבחר את הנכסים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377440"/>
            <a:ext cx="1554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4 נכסים שבונים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אימפריה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00600" y="2743200"/>
            <a:ext cx="201168" cy="201168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0" y="1554480"/>
            <a:ext cx="2011680" cy="29260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94960" y="1691640"/>
            <a:ext cx="128016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7800" y="18745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D4AF37"/>
                </a:solidFill>
              </a:rPr>
              <a:t>03
נקים את המערכת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2377440"/>
            <a:ext cx="1554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ברוקר + מחשבון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MGS הבלעדי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86600" y="2743200"/>
            <a:ext cx="201168" cy="201168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0" y="1554480"/>
            <a:ext cx="2011680" cy="29260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80960" y="1691640"/>
            <a:ext cx="128016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800" y="18745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D4AF37"/>
                </a:solidFill>
              </a:rPr>
              <a:t>04
נתכנן חופש כלכלי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2377440"/>
            <a:ext cx="1554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חוק ה-4%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ופרישה מוקדמת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372600" y="2743200"/>
            <a:ext cx="201168" cy="201168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01200" y="1554480"/>
            <a:ext cx="2011680" cy="29260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66960" y="1691640"/>
            <a:ext cx="128016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29800" y="18745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D4AF37"/>
                </a:solidFill>
              </a:rPr>
              <a:t>05
שגר ושכח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2377440"/>
            <a:ext cx="1554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15 דקות בחודש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זה הכול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700" b="0">
                <a:solidFill>
                  <a:srgbClr val="D4AF37"/>
                </a:solidFill>
              </a:rPr>
              <a:t>בלי אנגלית  ·  בלי מתמטיקה  ·  בלי ניסיון קודם  ·  רק רצון ו-15 דקות בחודש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14141"/>
                </a:solidFill>
              </a:defRPr>
            </a:pPr>
            <a: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2011680"/>
            <a:ext cx="731520" cy="914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89320" y="1645920"/>
            <a:ext cx="9144" cy="7315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4630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2200" b="0">
                <a:solidFill>
                  <a:srgbClr val="414141"/>
                </a:solidFill>
              </a:rPr>
              <a:t>מודול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2651760"/>
            <a:ext cx="256032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4800" b="1">
                <a:solidFill>
                  <a:srgbClr val="60A5FA"/>
                </a:solidFill>
              </a:rPr>
              <a:t>היסודות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2200" b="0">
                <a:solidFill>
                  <a:srgbClr val="8C8C8C"/>
                </a:solidFill>
              </a:rPr>
              <a:t>השפה החדשה שלכם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D4AF37"/>
                </a:solidFill>
              </a:rPr>
              <a:t>MGS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14141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800" b="1">
                <a:solidFill>
                  <a:srgbClr val="F5F5F5"/>
                </a:solidFill>
              </a:rPr>
              <a:t>בורסה ושוק ההון — מאפס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685800"/>
            <a:ext cx="2011680" cy="347472"/>
          </a:xfrm>
          <a:prstGeom prst="roundRect">
            <a:avLst/>
          </a:prstGeom>
          <a:solidFill>
            <a:srgbClr val="161616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D4AF37"/>
                </a:solidFill>
              </a:rPr>
              <a:t>שיעור 1.1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234440"/>
            <a:ext cx="100584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463040"/>
            <a:ext cx="2697480" cy="38404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00200"/>
            <a:ext cx="196596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D4AF37"/>
                </a:solidFill>
              </a:rPr>
              <a:t>שוק ההון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2240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זו לא הימורים — זו שותפות.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כשאתם קונים מניה של אפל,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אתם שותפים שלהם.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כשהם מרוויחים — אתם מרוויחים.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463040"/>
            <a:ext cx="2697480" cy="38404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1600200"/>
            <a:ext cx="1965960" cy="182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78308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60A5FA"/>
                </a:solidFill>
              </a:rPr>
              <a:t>מניה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286000"/>
            <a:ext cx="2240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חלק מבעלות על חברה.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אם יש מיליון מניות ואתם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מחזיקים 100 — אתם בעלים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של 0.01% מהחברה.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463040"/>
            <a:ext cx="2697480" cy="38404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1600200"/>
            <a:ext cx="1965960" cy="18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78308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34D399"/>
                </a:solidFill>
              </a:rPr>
              <a:t>מדד (Index)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286000"/>
            <a:ext cx="2240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סל של מאות חברות ביחד.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S&amp;P 500 = 500 החברות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הגדולות בארה״ב.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פיזור סיכון אוטומטי.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1463040"/>
            <a:ext cx="2697480" cy="38404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72600" y="1600200"/>
            <a:ext cx="1965960" cy="182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78308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A78BFA"/>
                </a:solidFill>
              </a:rPr>
              <a:t>ETF — תעודת סל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286000"/>
            <a:ext cx="2240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קונים מניה אחת בלבד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ומקבלים חשיפה למאות חברות.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בלי לבחור מניות בעצמכם.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הכלי המרכזי של MGS.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0">
                <a:solidFill>
                  <a:srgbClr val="D4AF37"/>
                </a:solidFill>
              </a:rPr>
              <a:t>עם ETF לא צריך לבחור מניות. קונים את כל השוק בלחיצת כפתור.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D4AF37"/>
                </a:solidFill>
              </a:rPr>
              <a:t>MGS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14141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800" b="1">
                <a:solidFill>
                  <a:srgbClr val="F5F5F5"/>
                </a:solidFill>
              </a:rPr>
              <a:t>למה MGS — ולמה דווקא עכשיו?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685800"/>
            <a:ext cx="2011680" cy="347472"/>
          </a:xfrm>
          <a:prstGeom prst="roundRect">
            <a:avLst/>
          </a:prstGeom>
          <a:solidFill>
            <a:srgbClr val="161616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D4AF37"/>
                </a:solidFill>
              </a:rPr>
              <a:t>שיעור 1.2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234440"/>
            <a:ext cx="100584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nflation_ero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7315200" cy="3931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46720" y="1554480"/>
            <a:ext cx="3657600" cy="164592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0" y="1691640"/>
            <a:ext cx="2926080" cy="1828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74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F87171"/>
                </a:solidFill>
              </a:rPr>
              <a:t>הכסף שלכם נשחק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3774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₪100,000 בבנק היום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= ₪74,400 בכוח קנייה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תוך 10 שנים בלבד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383280"/>
            <a:ext cx="3657600" cy="210312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3520440"/>
            <a:ext cx="2926080" cy="18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3703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34D399"/>
                </a:solidFill>
              </a:rPr>
              <a:t>כוחו של זמן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42062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להתחיל היום ב-₪1,000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עדיף על להתחיל בעוד שנה ב-₪5,000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/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ריבית דריבית לא מחכה לאף אחד.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D4AF37"/>
                </a:solidFill>
              </a:rPr>
              <a:t>MGS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14141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800" b="1">
                <a:solidFill>
                  <a:srgbClr val="D4AF37"/>
                </a:solidFill>
              </a:rPr>
              <a:t>ההוכחה: הכוח של ריבית דריבית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188720"/>
            <a:ext cx="100584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mpound_inte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7772400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0" y="1463040"/>
            <a:ext cx="3383280" cy="146304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78240" y="1600200"/>
            <a:ext cx="265176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1783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D4AF37"/>
                </a:solidFill>
              </a:rPr>
              <a:t>₪3,000 בחודש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הפקדה קבועה × 30 שנה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בתשואה ממוצעת של 10.5%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3108960"/>
            <a:ext cx="3383280" cy="137160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78240" y="3246120"/>
            <a:ext cx="2651760" cy="182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34290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60A5FA"/>
                </a:solidFill>
              </a:rPr>
              <a:t>סה״כ הפקדות: ₪1.08M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רק את הכסף שהכנסתם.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השאר — ריבית דריבית.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4663440"/>
            <a:ext cx="3383280" cy="137160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0" y="4800600"/>
            <a:ext cx="2651760" cy="18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49834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34D399"/>
                </a:solidFill>
              </a:rPr>
              <a:t>שווי תיק: ₪7.3M+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5486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הרווח נוצר מעצמו.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הזמן עושה את העבודה.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D4AF37"/>
                </a:solidFill>
              </a:rPr>
              <a:t>MGS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14141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800" b="1">
                <a:solidFill>
                  <a:srgbClr val="F5F5F5"/>
                </a:solidFill>
              </a:rPr>
              <a:t>MGS מול נדל״ן — השוואה אמיתית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685800"/>
            <a:ext cx="2011680" cy="347472"/>
          </a:xfrm>
          <a:prstGeom prst="roundRect">
            <a:avLst/>
          </a:prstGeom>
          <a:solidFill>
            <a:srgbClr val="161616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D4AF37"/>
                </a:solidFill>
              </a:rPr>
              <a:t>שיעור 1.3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234440"/>
            <a:ext cx="100584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alestate_vs_m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7315200" cy="3931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863840" y="1463040"/>
            <a:ext cx="3840480" cy="118872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1600200"/>
            <a:ext cx="310896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7830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D4AF37"/>
                </a:solidFill>
              </a:rPr>
              <a:t>נזילות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28600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נדל״ן: חודשים למכירה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MGS: גישה מיידית תוך דקות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788920"/>
            <a:ext cx="3840480" cy="118872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2926080"/>
            <a:ext cx="310896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31089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D4AF37"/>
                </a:solidFill>
              </a:rPr>
              <a:t>הון התחלתי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61188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נדל״ן: מקדמה של ₪300,000+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MGS: אפשר להתחיל מ-₪1,000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4114800"/>
            <a:ext cx="3840480" cy="118872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4251960"/>
            <a:ext cx="310896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44348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D4AF37"/>
                </a:solidFill>
              </a:rPr>
              <a:t>ניהול שוטף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493776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נדל״ן: שעות של כאבי ראש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MGS: 15 דקות בחודש — נקודה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500" b="0">
                <a:solidFill>
                  <a:srgbClr val="D4AF37"/>
                </a:solidFill>
              </a:rPr>
              <a:t>התיק שלכם הוא ״הנדל״ן הדיגיטלי״ — בלי שוכרים, בלי תיקונים, בלי משכנתא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14141"/>
                </a:solidFill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2011680"/>
            <a:ext cx="731520" cy="914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89320" y="1645920"/>
            <a:ext cx="9144" cy="7315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4630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2200" b="0">
                <a:solidFill>
                  <a:srgbClr val="414141"/>
                </a:solidFill>
              </a:rPr>
              <a:t>מודול 2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2651760"/>
            <a:ext cx="256032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4800" b="1">
                <a:solidFill>
                  <a:srgbClr val="D4AF37"/>
                </a:solidFill>
              </a:rPr>
              <a:t>האסטרטגיה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2200" b="0">
                <a:solidFill>
                  <a:srgbClr val="8C8C8C"/>
                </a:solidFill>
              </a:rPr>
              <a:t>הנכסים שמרכיבים את האימפריה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D4AF37"/>
                </a:solidFill>
              </a:rPr>
              <a:t>MGS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14141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3000" b="1">
                <a:solidFill>
                  <a:srgbClr val="F5F5F5"/>
                </a:solidFill>
              </a:rPr>
              <a:t>הקצאת הנכסים של MGS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188720"/>
            <a:ext cx="100584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llocation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4846320" cy="4846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0" y="1280160"/>
            <a:ext cx="5943600" cy="10972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0" y="1417320"/>
            <a:ext cx="521208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16002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D4AF37"/>
                </a:solidFill>
              </a:rPr>
              <a:t>S&amp;P 500  —  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103120"/>
            <a:ext cx="54864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500 החברות הכי גדולות בעולם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VOO / SPY / IVV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560320"/>
            <a:ext cx="5943600" cy="10972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0" y="2697480"/>
            <a:ext cx="5212080" cy="182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8803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A78BFA"/>
                </a:solidFill>
              </a:rPr>
              <a:t>Nasdaq  —  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3383280"/>
            <a:ext cx="54864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טכנולוגיה, חדשנות, עתיד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QQQ / QQQM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3840480"/>
            <a:ext cx="5943600" cy="10972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0" y="3977640"/>
            <a:ext cx="5212080" cy="1828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41605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F472B6"/>
                </a:solidFill>
              </a:rPr>
              <a:t>SCHD  —  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4663440"/>
            <a:ext cx="54864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דיבידנדים — ההכנסה הפסיבית שלכם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SCHD / VYM / DGRO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0" y="5120639"/>
            <a:ext cx="5943600" cy="10972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2160" y="5257799"/>
            <a:ext cx="521208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544067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F59E0B"/>
                </a:solidFill>
              </a:rPr>
              <a:t>ביטקוין  —  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5943599"/>
            <a:ext cx="54864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נכס הרזרבה הדיגיטלי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IBIT / FBTC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D4AF37"/>
                </a:solidFill>
              </a:rPr>
              <a:t>MGS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14141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800" b="1">
                <a:solidFill>
                  <a:srgbClr val="F5F5F5"/>
                </a:solidFill>
              </a:rPr>
              <a:t>מנוע הצמיחה — 30 שנות הוכחה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685800"/>
            <a:ext cx="2011680" cy="347472"/>
          </a:xfrm>
          <a:prstGeom prst="roundRect">
            <a:avLst/>
          </a:prstGeom>
          <a:solidFill>
            <a:srgbClr val="161616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D4AF37"/>
                </a:solidFill>
              </a:rPr>
              <a:t>שיעור 2.1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234440"/>
            <a:ext cx="100584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p500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8229600" cy="43891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778240" y="1463040"/>
            <a:ext cx="3017520" cy="128016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1600200"/>
            <a:ext cx="22860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783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D4AF37"/>
                </a:solidFill>
              </a:rPr>
              <a:t>תשואה ממוצעת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2286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~10.5% בשנה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לאורך 30 שנה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2926080"/>
            <a:ext cx="3017520" cy="137160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0" y="3063240"/>
            <a:ext cx="2286000" cy="182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3246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D4AF37"/>
                </a:solidFill>
              </a:rPr>
              <a:t>החברות שלכם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3749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Apple · Microsoft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Amazon · Google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Nvidia · Meta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4480560"/>
            <a:ext cx="3017520" cy="118872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4617720"/>
            <a:ext cx="2286000" cy="18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4800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D4AF37"/>
                </a:solidFill>
              </a:rPr>
              <a:t>60% מהתיק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53035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S&amp;P 500 + Nasdaq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= המנועים שלכם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D4AF37"/>
                </a:solidFill>
              </a:rPr>
              <a:t>MGS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14141"/>
                </a:solidFill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800" b="1">
                <a:solidFill>
                  <a:srgbClr val="34D399"/>
                </a:solidFill>
              </a:rPr>
              <a:t>ההוכחה: השוק תמיד חוזר — תמיד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188720"/>
            <a:ext cx="100584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risis_re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7772400" cy="4389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0" y="1463040"/>
            <a:ext cx="3383280" cy="118872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78240" y="1600200"/>
            <a:ext cx="2651760" cy="1828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1783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F87171"/>
                </a:solidFill>
              </a:rPr>
              <a:t>משבר 2008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28600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ירד 57% — התאושש תוך 5.5 שנים.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מי שקנה בתחתית — הכפיל.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834640"/>
            <a:ext cx="3383280" cy="118872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78240" y="2971800"/>
            <a:ext cx="265176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31546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F59E0B"/>
                </a:solidFill>
              </a:rPr>
              <a:t>קורונה 2020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365760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ירד 34% — חזר תוך 5 חודשים!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ההתאוששות הכי מהירה בהיסטוריה.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4206240"/>
            <a:ext cx="3383280" cy="118872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0" y="4343400"/>
            <a:ext cx="2651760" cy="18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45262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34D399"/>
                </a:solidFill>
              </a:rPr>
              <a:t>המסקנה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502920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כל ירידה הייתה הזדמנות קנייה.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מי שנשאר — תמיד הרוויח.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500" b="0">
                <a:solidFill>
                  <a:srgbClr val="D4AF37"/>
                </a:solidFill>
              </a:rPr>
              <a:t>בהיסטוריה של שוק ההון, אף משקיע לטווח ארוך לא הפסיד כסף בתקופה של 15+ שנים.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D4AF37"/>
                </a:solidFill>
              </a:rPr>
              <a:t>MGS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14141"/>
                </a:solidFill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800" b="1">
                <a:solidFill>
                  <a:srgbClr val="F5F5F5"/>
                </a:solidFill>
              </a:rPr>
              <a:t>״השכירות החודשית״ שלכם — דיבידנדים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685800"/>
            <a:ext cx="2011680" cy="347472"/>
          </a:xfrm>
          <a:prstGeom prst="roundRect">
            <a:avLst/>
          </a:prstGeom>
          <a:solidFill>
            <a:srgbClr val="161616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D4AF37"/>
                </a:solidFill>
              </a:rPr>
              <a:t>שיעור 2.2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234440"/>
            <a:ext cx="100584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vidend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7589520" cy="4114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0" y="1463040"/>
            <a:ext cx="3474720" cy="15544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0" y="1600200"/>
            <a:ext cx="2743200" cy="1828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783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D4AF37"/>
                </a:solidFill>
              </a:rPr>
              <a:t>מה זה SCHD?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2860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תעודת סל שמחלקת כסף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כל רבעון — לחשבון שלכם.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תשואה: ~3.5% בשנה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צמיחת דיבידנד: ~10% בשנה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200400"/>
            <a:ext cx="3474720" cy="137160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95360" y="3337560"/>
            <a:ext cx="2743200" cy="18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35204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34D399"/>
                </a:solidFill>
              </a:rPr>
              <a:t>למה זה מדהים?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מקבלים מזומן — בלי למכור כלום.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ההכנסה גדלה כל שנה.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כמו שכירות, רק בלי שוכרים.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4754880"/>
            <a:ext cx="3474720" cy="10972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95360" y="4892040"/>
            <a:ext cx="27432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50749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D4AF37"/>
                </a:solidFill>
              </a:rPr>
              <a:t>25% מהתיק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5577840"/>
            <a:ext cx="30175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מנוע ההכנסה הפסיבית שלכם.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D4AF37"/>
                </a:solidFill>
              </a:rPr>
              <a:t>MGS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14141"/>
                </a:solidFill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800" b="1">
                <a:solidFill>
                  <a:srgbClr val="F5F5F5"/>
                </a:solidFill>
              </a:rPr>
              <a:t>נכס הרזרבה — ביטקוין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685800"/>
            <a:ext cx="2011680" cy="347472"/>
          </a:xfrm>
          <a:prstGeom prst="roundRect">
            <a:avLst/>
          </a:prstGeom>
          <a:solidFill>
            <a:srgbClr val="161616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D4AF37"/>
                </a:solidFill>
              </a:rPr>
              <a:t>שיעור 2.3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234440"/>
            <a:ext cx="100584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itcoin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7589520" cy="4114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0" y="1463040"/>
            <a:ext cx="3474720" cy="137160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0" y="1600200"/>
            <a:ext cx="274320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783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F59E0B"/>
                </a:solidFill>
              </a:rPr>
              <a:t>מ-$300 ל-$95,000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ב-10 שנים.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הנכס שהפך לרזרבה עולמית.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017520"/>
            <a:ext cx="3474720" cy="128016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95360" y="3154680"/>
            <a:ext cx="274320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33375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D4AF37"/>
                </a:solidFill>
              </a:rPr>
              <a:t>למה רק 15%?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840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מספיק ליהנות מצמיחה.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לא יותר מדי — כדי לא לסכן.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4480560"/>
            <a:ext cx="3474720" cy="128016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95360" y="4617720"/>
            <a:ext cx="2743200" cy="18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48006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D4AF37"/>
                </a:solidFill>
              </a:rPr>
              <a:t>גיוון חכם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53035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לא תלוי בממשלות.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הגנה בתרחישים קיצוניים.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14141"/>
                </a:solidFill>
              </a:defRPr>
            </a:pPr>
            <a: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2011680"/>
            <a:ext cx="731520" cy="914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89320" y="1645920"/>
            <a:ext cx="9144" cy="7315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4630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2200" b="0">
                <a:solidFill>
                  <a:srgbClr val="414141"/>
                </a:solidFill>
              </a:rPr>
              <a:t>מודול 3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2651760"/>
            <a:ext cx="256032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4800" b="1">
                <a:solidFill>
                  <a:srgbClr val="34D399"/>
                </a:solidFill>
              </a:rPr>
              <a:t>הפרקטיקה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2200" b="0">
                <a:solidFill>
                  <a:srgbClr val="8C8C8C"/>
                </a:solidFill>
              </a:rPr>
              <a:t>מקימים את המערכת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D4AF37"/>
                </a:solidFill>
              </a:rPr>
              <a:t>MGS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14141"/>
                </a:solidFill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800" b="1">
                <a:solidFill>
                  <a:srgbClr val="F5F5F5"/>
                </a:solidFill>
              </a:rPr>
              <a:t>הבית של הכסף שלכם — Colmex Pro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685800"/>
            <a:ext cx="2011680" cy="347472"/>
          </a:xfrm>
          <a:prstGeom prst="roundRect">
            <a:avLst/>
          </a:prstGeom>
          <a:solidFill>
            <a:srgbClr val="161616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D4AF37"/>
                </a:solidFill>
              </a:rPr>
              <a:t>שיעור 3.1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234440"/>
            <a:ext cx="100584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463040"/>
            <a:ext cx="2697480" cy="301752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00200"/>
            <a:ext cx="1965960" cy="18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D4AF37"/>
                </a:solidFill>
              </a:rPr>
              <a:t>01  פתיחת חשבון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מדריך טכני מלא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שלב אחרי שלב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עם צילומי מסך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463040"/>
            <a:ext cx="2697480" cy="301752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1600200"/>
            <a:ext cx="1965960" cy="18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78308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D4AF37"/>
                </a:solidFill>
              </a:rPr>
              <a:t>02  עמלות VIP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28600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עמלות מופחתות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בלעדי לתלמידי MGS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חיסכון אדיר לאורך שנים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463040"/>
            <a:ext cx="2697480" cy="301752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1600200"/>
            <a:ext cx="1965960" cy="18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78308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D4AF37"/>
                </a:solidFill>
              </a:rPr>
              <a:t>03  הפקדה ראשונה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28600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העברה בנקאית פשוטה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מאובטחת לחלוטין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תוך דקות ספורות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1463040"/>
            <a:ext cx="2697480" cy="301752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72600" y="1600200"/>
            <a:ext cx="1965960" cy="18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78308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D4AF37"/>
                </a:solidFill>
              </a:rPr>
              <a:t>04  הקנייה הראשונה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28600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רכישת ה-ETF הראשון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עם ליווי אישי שלנו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צעד אחרי צעד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0">
                <a:solidFill>
                  <a:srgbClr val="34D399"/>
                </a:solidFill>
              </a:rPr>
              <a:t>לא לבד — אנחנו מלווים אתכם בכל שלב. נציג אישי זמין לכל שאלה.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D4AF37"/>
                </a:solidFill>
              </a:rPr>
              <a:t>MGS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14141"/>
                </a:solidFill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800" b="1">
                <a:solidFill>
                  <a:srgbClr val="F5F5F5"/>
                </a:solidFill>
              </a:rPr>
              <a:t>למה להשקיע לבד? ההוכחה במספרים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188720"/>
            <a:ext cx="100584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e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7772400" cy="4389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0" y="1463040"/>
            <a:ext cx="3383280" cy="137160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78240" y="1600200"/>
            <a:ext cx="2651760" cy="1828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1783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F87171"/>
                </a:solidFill>
              </a:rPr>
              <a:t>דמי ניהול 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נשמע מעט?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לאורך 30 שנה זה מאות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אלפי שקלים מהכיס שלכם.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3017520"/>
            <a:ext cx="3383280" cy="137160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78240" y="3154680"/>
            <a:ext cx="2651760" cy="18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33375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34D399"/>
                </a:solidFill>
              </a:rPr>
              <a:t>עם MGS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3840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משקיעים לבד.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אותה תשואה — בלי לשלם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לאף אחד על הדרך.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4572000"/>
            <a:ext cx="3383280" cy="118872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0" y="4709160"/>
            <a:ext cx="265176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48920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D4AF37"/>
                </a:solidFill>
              </a:rPr>
              <a:t>ההפרש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539496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עשרות אלפים אחרי 20 שנה.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מאות אלפים אחרי 30.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500" b="0">
                <a:solidFill>
                  <a:srgbClr val="34D399"/>
                </a:solidFill>
              </a:rPr>
              <a:t>הכסף שנחסך בדמי ניהול — נשאר אצלכם וממשיך לצמוח.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D4AF37"/>
                </a:solidFill>
              </a:rPr>
              <a:t>MGS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14141"/>
                </a:solidFill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800" b="1">
                <a:solidFill>
                  <a:srgbClr val="F5F5F5"/>
                </a:solidFill>
              </a:rPr>
              <a:t>מערכת MGS — המחשבון הבלעדי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685800"/>
            <a:ext cx="2011680" cy="347472"/>
          </a:xfrm>
          <a:prstGeom prst="roundRect">
            <a:avLst/>
          </a:prstGeom>
          <a:solidFill>
            <a:srgbClr val="161616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D4AF37"/>
                </a:solidFill>
              </a:rPr>
              <a:t>שיעור 3.2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234440"/>
            <a:ext cx="100584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463040"/>
            <a:ext cx="2697480" cy="320040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00200"/>
            <a:ext cx="196596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D4AF37"/>
                </a:solidFill>
              </a:rPr>
              <a:t>לוח בקרה חי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2240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הזינו את הנתונים שלכם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ותראו בדיוק איפה אתם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עומדים — בלחיצה אחת.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463040"/>
            <a:ext cx="2697480" cy="320040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1600200"/>
            <a:ext cx="1965960" cy="18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78308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34D399"/>
                </a:solidFill>
              </a:rPr>
              <a:t>הזרקת הון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286000"/>
            <a:ext cx="2240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שיטה חכמה לאיזון התיק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בלי לשלם מס מיותר.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פשוט ויעיל.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463040"/>
            <a:ext cx="2697480" cy="320040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1600200"/>
            <a:ext cx="1965960" cy="182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78308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60A5FA"/>
                </a:solidFill>
              </a:rPr>
              <a:t>סימולציה עתידית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286000"/>
            <a:ext cx="2240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מריצים תחזית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לפי תרחישים שונים.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רואים את העתיד שלכם.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1463040"/>
            <a:ext cx="2697480" cy="320040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72600" y="1600200"/>
            <a:ext cx="1965960" cy="182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78308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A78BFA"/>
                </a:solidFill>
              </a:rPr>
              <a:t>מעקב דיבידנדים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286000"/>
            <a:ext cx="2240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רואים כמה הכנסה פסיבית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נכנסת כל חודש.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ההכנסה שרק גדלה.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0">
                <a:solidFill>
                  <a:srgbClr val="D4AF37"/>
                </a:solidFill>
              </a:rPr>
              <a:t>מחשבון שפיתחנו בעצמנו — לא קיים בשום מקום אחר. בלעדי לתלמידי MGS.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14141"/>
                </a:solidFill>
              </a:defRPr>
            </a:pPr>
            <a: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2011680"/>
            <a:ext cx="731520" cy="914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89320" y="1645920"/>
            <a:ext cx="9144" cy="7315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4630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2200" b="0">
                <a:solidFill>
                  <a:srgbClr val="414141"/>
                </a:solidFill>
              </a:rPr>
              <a:t>מודול 4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2651760"/>
            <a:ext cx="256032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4800" b="1">
                <a:solidFill>
                  <a:srgbClr val="A78BFA"/>
                </a:solidFill>
              </a:rPr>
              <a:t>הדרך לחופש כלכלי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2200" b="0">
                <a:solidFill>
                  <a:srgbClr val="8C8C8C"/>
                </a:solidFill>
              </a:rPr>
              <a:t>מתי ואיך מגיעים לשם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D4AF37"/>
                </a:solidFill>
              </a:rPr>
              <a:t>MGS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14141"/>
                </a:solidFill>
              </a:defRPr>
            </a:pPr>
            <a: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800" b="1">
                <a:solidFill>
                  <a:srgbClr val="F5F5F5"/>
                </a:solidFill>
              </a:rPr>
              <a:t>חוק ה-4% — מתי אפשר להפסיק לעבוד?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685800"/>
            <a:ext cx="2011680" cy="347472"/>
          </a:xfrm>
          <a:prstGeom prst="roundRect">
            <a:avLst/>
          </a:prstGeom>
          <a:solidFill>
            <a:srgbClr val="161616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D4AF37"/>
                </a:solidFill>
              </a:rPr>
              <a:t>שיעור 4.1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234440"/>
            <a:ext cx="100584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our_percent_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7589520" cy="4114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0" y="1463040"/>
            <a:ext cx="3474720" cy="173736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0" y="1600200"/>
            <a:ext cx="2743200" cy="182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783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A78BFA"/>
                </a:solidFill>
              </a:rPr>
              <a:t>מה זה חוק ה-4%?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286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מושכים 4% בשנה מהתיק.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הכסף לא ייגמר לעולם.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/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זה הכלל שאומר לכם: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״הגעתם. אתם חופשיים.״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383280"/>
            <a:ext cx="3474720" cy="210312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95360" y="3520440"/>
            <a:ext cx="2743200" cy="18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37033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34D399"/>
                </a:solidFill>
              </a:rPr>
              <a:t>דוגמה פשוטה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2062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תיק של ₪3,000,000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= ₪10,000 כל חודש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/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הכנסה פסיבית.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בלי לגעת בקרן.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הכסף ממשיך לצמוח.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D4AF37"/>
                </a:solidFill>
              </a:rPr>
              <a:t>MGS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14141"/>
                </a:solidFill>
              </a:defRPr>
            </a:pPr>
            <a: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800" b="1">
                <a:solidFill>
                  <a:srgbClr val="F5F5F5"/>
                </a:solidFill>
              </a:rPr>
              <a:t>לחיות מהתזרים — הכסף עובד בשבילכם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685800"/>
            <a:ext cx="2011680" cy="347472"/>
          </a:xfrm>
          <a:prstGeom prst="roundRect">
            <a:avLst/>
          </a:prstGeom>
          <a:solidFill>
            <a:srgbClr val="161616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D4AF37"/>
                </a:solidFill>
              </a:rPr>
              <a:t>שיעור 4.2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234440"/>
            <a:ext cx="100584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200400" cy="365760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1600200"/>
            <a:ext cx="2468880" cy="182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83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60A5FA"/>
                </a:solidFill>
              </a:rPr>
              <a:t>שלב 1
צמיחה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86000"/>
            <a:ext cx="2743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שנים 1–10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/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להפקיד בעקביות.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לתת לריבית דריבית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לעשות את העבודה.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23360" y="3017520"/>
            <a:ext cx="228600" cy="256032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0" y="1463040"/>
            <a:ext cx="3200400" cy="365760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1600200"/>
            <a:ext cx="2468880" cy="182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783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A78BFA"/>
                </a:solidFill>
              </a:rPr>
              <a:t>שלב 2
מעבר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286000"/>
            <a:ext cx="2743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שנים 10–15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/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להתחיל להעביר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חלק מהנכסים לדיבידנדים.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הכנסה פסיבית ראשונה.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589520" y="3017520"/>
            <a:ext cx="228600" cy="256032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63840" y="1463040"/>
            <a:ext cx="3200400" cy="365760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600200"/>
            <a:ext cx="2468880" cy="18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1783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34D399"/>
                </a:solidFill>
              </a:rPr>
              <a:t>שלב 3
חופש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286000"/>
            <a:ext cx="2743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שנה 15+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/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הרווחים מהתיק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מכסים את כל ההוצאות.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חופש כלכלי מלא.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700" b="0">
                <a:solidFill>
                  <a:srgbClr val="D4AF37"/>
                </a:solidFill>
              </a:rPr>
              <a:t>המטרה: שהכסף יעבוד בשבילכם — ולא אתם בשבילו.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14141"/>
                </a:solidFill>
              </a:defRPr>
            </a:pPr>
            <a: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2011680"/>
            <a:ext cx="731520" cy="91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89320" y="1645920"/>
            <a:ext cx="9144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4630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2200" b="0">
                <a:solidFill>
                  <a:srgbClr val="414141"/>
                </a:solidFill>
              </a:rPr>
              <a:t>מודול 5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2651760"/>
            <a:ext cx="256032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4800" b="1">
                <a:solidFill>
                  <a:srgbClr val="F59E0B"/>
                </a:solidFill>
              </a:rPr>
              <a:t>אוטומציה וסיכום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2200" b="0">
                <a:solidFill>
                  <a:srgbClr val="8C8C8C"/>
                </a:solidFill>
              </a:rPr>
              <a:t>שגר ושכח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D4AF37"/>
                </a:solidFill>
              </a:rPr>
              <a:t>MGS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14141"/>
                </a:solidFill>
              </a:defRPr>
            </a:pPr>
            <a: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800" b="1">
                <a:solidFill>
                  <a:srgbClr val="F5F5F5"/>
                </a:solidFill>
              </a:rPr>
              <a:t>מיסוי ובירוקרטיה — בעברית פשוטה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685800"/>
            <a:ext cx="2011680" cy="347472"/>
          </a:xfrm>
          <a:prstGeom prst="roundRect">
            <a:avLst/>
          </a:prstGeom>
          <a:solidFill>
            <a:srgbClr val="161616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D4AF37"/>
                </a:solidFill>
              </a:rPr>
              <a:t>שיעור 5.1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234440"/>
            <a:ext cx="100584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10515600" y="1627632"/>
            <a:ext cx="146304" cy="146304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000" b="0">
                <a:solidFill>
                  <a:srgbClr val="F5F5F5"/>
                </a:solidFill>
              </a:rPr>
              <a:t>מס רווח הון: 25% על הרווח בלבד — לא על מה שהפקדתם</a:t>
            </a:r>
          </a:p>
        </p:txBody>
      </p:sp>
      <p:sp>
        <p:nvSpPr>
          <p:cNvPr id="11" name="Diamond 10"/>
          <p:cNvSpPr/>
          <p:nvPr/>
        </p:nvSpPr>
        <p:spPr>
          <a:xfrm>
            <a:off x="10515600" y="2313432"/>
            <a:ext cx="146304" cy="146304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000" b="0">
                <a:solidFill>
                  <a:srgbClr val="F5F5F5"/>
                </a:solidFill>
              </a:rPr>
              <a:t>משלמים רק כשמוכרים. כל עוד לא מכרתם — אין מס. פשוט.</a:t>
            </a:r>
          </a:p>
        </p:txBody>
      </p:sp>
      <p:sp>
        <p:nvSpPr>
          <p:cNvPr id="13" name="Diamond 12"/>
          <p:cNvSpPr/>
          <p:nvPr/>
        </p:nvSpPr>
        <p:spPr>
          <a:xfrm>
            <a:off x="10515600" y="2999232"/>
            <a:ext cx="146304" cy="146304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2608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000" b="0">
                <a:solidFill>
                  <a:srgbClr val="F5F5F5"/>
                </a:solidFill>
              </a:rPr>
              <a:t>הברוקר מנפיק דוח שנתי — מעבירים לרואה חשבון וזהו</a:t>
            </a:r>
          </a:p>
        </p:txBody>
      </p:sp>
      <p:sp>
        <p:nvSpPr>
          <p:cNvPr id="15" name="Diamond 14"/>
          <p:cNvSpPr/>
          <p:nvPr/>
        </p:nvSpPr>
        <p:spPr>
          <a:xfrm>
            <a:off x="10515600" y="3685032"/>
            <a:ext cx="146304" cy="146304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1188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000" b="0">
                <a:solidFill>
                  <a:srgbClr val="F5F5F5"/>
                </a:solidFill>
              </a:rPr>
              <a:t>הכול מוסבר בעברית פשוטה, בלי ז׳רגון מקצועי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D4AF37"/>
                </a:solidFill>
              </a:rPr>
              <a:t>MGS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14141"/>
                </a:solidFill>
              </a:defRPr>
            </a:pPr>
            <a: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800" b="1">
                <a:solidFill>
                  <a:srgbClr val="F5F5F5"/>
                </a:solidFill>
              </a:rPr>
              <a:t>שגרת ״שגר ושכח״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685800"/>
            <a:ext cx="2011680" cy="347472"/>
          </a:xfrm>
          <a:prstGeom prst="roundRect">
            <a:avLst/>
          </a:prstGeom>
          <a:solidFill>
            <a:srgbClr val="161616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D4AF37"/>
                </a:solidFill>
              </a:rPr>
              <a:t>שיעור 5.2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234440"/>
            <a:ext cx="100584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200400" cy="320040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1600200"/>
            <a:ext cx="246888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83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D4AF37"/>
                </a:solidFill>
              </a:rPr>
              <a:t>פעם בחודש
15 דקות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8600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נכנסים למערכת MGS.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בודקים את ההקצאה.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מפקידים לפי ההמלצה.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סיימתם.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63040"/>
            <a:ext cx="3200400" cy="320040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1600200"/>
            <a:ext cx="2468880" cy="18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783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34D399"/>
                </a:solidFill>
              </a:rPr>
              <a:t>פעם ברבעון
5 דקות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28600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בודקים שדיבידנדים נכנסו.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מסתכלים על הצמיחה.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מחייכים.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1463040"/>
            <a:ext cx="3200400" cy="320040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600200"/>
            <a:ext cx="2468880" cy="182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1783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60A5FA"/>
                </a:solidFill>
              </a:rPr>
              <a:t>פעם בשנה
30 דקות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28600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דוח שנתי לרואה חשבון.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בדיקת יעדים.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עדכון קל אם צריך.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700" b="0">
                <a:solidFill>
                  <a:srgbClr val="F59E0B"/>
                </a:solidFill>
              </a:rPr>
              <a:t>לא צריך לבדוק כל יום. לא צריך להילחץ. המערכת עובדת — אתם חיים.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D4AF37"/>
                </a:solidFill>
              </a:rPr>
              <a:t>MGS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14141"/>
                </a:solidFill>
              </a:defRPr>
            </a:pPr>
            <a: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800" b="1">
                <a:solidFill>
                  <a:srgbClr val="F5F5F5"/>
                </a:solidFill>
              </a:rPr>
              <a:t>סיכום — יוצאים לדרך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685800"/>
            <a:ext cx="2011680" cy="347472"/>
          </a:xfrm>
          <a:prstGeom prst="roundRect">
            <a:avLst/>
          </a:prstGeom>
          <a:solidFill>
            <a:srgbClr val="161616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D4AF37"/>
                </a:solidFill>
              </a:rPr>
              <a:t>שיעור 5.3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234440"/>
            <a:ext cx="100584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0" y="1581912"/>
            <a:ext cx="347472" cy="34747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50505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508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100" b="1">
                <a:solidFill>
                  <a:srgbClr val="F5F5F5"/>
                </a:solidFill>
              </a:rPr>
              <a:t>למדתם את השפה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19656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 b="0">
                <a:solidFill>
                  <a:srgbClr val="8C8C8C"/>
                </a:solidFill>
              </a:rPr>
              <a:t>מניה · מדד · ETF — עכשיו אתם מבינים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2167128"/>
            <a:ext cx="8229600" cy="9144"/>
          </a:xfrm>
          <a:prstGeom prst="rect">
            <a:avLst/>
          </a:prstGeom>
          <a:solidFill>
            <a:srgbClr val="41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75520" y="2423160"/>
            <a:ext cx="347472" cy="347472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50505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5000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100" b="1">
                <a:solidFill>
                  <a:srgbClr val="F5F5F5"/>
                </a:solidFill>
              </a:rPr>
              <a:t>בחרתם את הנכסים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660904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 b="0">
                <a:solidFill>
                  <a:srgbClr val="8C8C8C"/>
                </a:solidFill>
              </a:rPr>
              <a:t>S&amp;P 500 · Nasdaq · SCHD · ביטקוין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3008376"/>
            <a:ext cx="8229600" cy="9144"/>
          </a:xfrm>
          <a:prstGeom prst="rect">
            <a:avLst/>
          </a:prstGeom>
          <a:solidFill>
            <a:srgbClr val="41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75520" y="3264408"/>
            <a:ext cx="347472" cy="3474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50505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19125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100" b="1">
                <a:solidFill>
                  <a:srgbClr val="F5F5F5"/>
                </a:solidFill>
              </a:rPr>
              <a:t>הקמתם את המערכת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50215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 b="0">
                <a:solidFill>
                  <a:srgbClr val="8C8C8C"/>
                </a:solidFill>
              </a:rPr>
              <a:t>ברוקר VIP + מחשבון MGS הבלעדי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3849624"/>
            <a:ext cx="8229600" cy="9144"/>
          </a:xfrm>
          <a:prstGeom prst="rect">
            <a:avLst/>
          </a:prstGeom>
          <a:solidFill>
            <a:srgbClr val="41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75520" y="4105656"/>
            <a:ext cx="347472" cy="34747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50505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03250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100" b="1">
                <a:solidFill>
                  <a:srgbClr val="F5F5F5"/>
                </a:solidFill>
              </a:rPr>
              <a:t>תכננתם את החופש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34340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 b="0">
                <a:solidFill>
                  <a:srgbClr val="8C8C8C"/>
                </a:solidFill>
              </a:rPr>
              <a:t>חוק ה-4% + מעבר הדרגתי לדיבידנדים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4690872"/>
            <a:ext cx="8229600" cy="9144"/>
          </a:xfrm>
          <a:prstGeom prst="rect">
            <a:avLst/>
          </a:prstGeom>
          <a:solidFill>
            <a:srgbClr val="41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75520" y="4946904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50505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87375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100" b="1">
                <a:solidFill>
                  <a:srgbClr val="F5F5F5"/>
                </a:solidFill>
              </a:rPr>
              <a:t>שגר ושכח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18464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 b="0">
                <a:solidFill>
                  <a:srgbClr val="8C8C8C"/>
                </a:solidFill>
              </a:rPr>
              <a:t>15 דקות בחודש — ותו לא. הכסף עובד לבד.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700" b="0">
                <a:solidFill>
                  <a:srgbClr val="D4AF37"/>
                </a:solidFill>
              </a:rPr>
              <a:t>ברכת הדרך מאיתנו — אתם מוכנים. הצטרפו לקהילת MGS והתחילו את המסע.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D4AF37"/>
                </a:solidFill>
              </a:rPr>
              <a:t>MGS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14141"/>
                </a:solidFill>
              </a:defRPr>
            </a:pPr>
            <a: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3400" b="1">
                <a:solidFill>
                  <a:srgbClr val="D4AF37"/>
                </a:solidFill>
              </a:rPr>
              <a:t>מה מקבלים בקורס MGS?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188720"/>
            <a:ext cx="100584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383280" cy="2011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600200"/>
            <a:ext cx="265176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D4AF37"/>
                </a:solidFill>
              </a:rPr>
              <a:t>15 שיעורי וידאו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הדרכה צעד אחרי צעד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מאפס ועד שגר ושכח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1463040"/>
            <a:ext cx="3383280" cy="2011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39" y="1600200"/>
            <a:ext cx="2651760" cy="182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79" y="1783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60A5FA"/>
                </a:solidFill>
              </a:rPr>
              <a:t>מערכת MGS בלעדית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2860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מחשבון שפיתחנו בעצמנו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לא קיים בשום מקום אחר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463040"/>
            <a:ext cx="3383280" cy="2011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79" y="1600200"/>
            <a:ext cx="2651760" cy="18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783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34D399"/>
                </a:solidFill>
              </a:rPr>
              <a:t>נציג אישי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2860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ליווי צמוד בכל שאלה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תמיד יש למי לפנות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40480"/>
            <a:ext cx="3383280" cy="2011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977640"/>
            <a:ext cx="2651760" cy="182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1605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A78BFA"/>
                </a:solidFill>
              </a:rPr>
              <a:t>קהילת MGS סגורה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6634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קהילה של תלמידים בלבד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שיתוף ידע ותמיכה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3840480"/>
            <a:ext cx="3383280" cy="2011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63439" y="3977640"/>
            <a:ext cx="265176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79" y="41605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F59E0B"/>
                </a:solidFill>
              </a:rPr>
              <a:t>עמלות VIP בברוקר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79" y="46634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חיסכון של מאות אלפי ₪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לאורך שנות ההשקעה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3840480"/>
            <a:ext cx="3383280" cy="2011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12479" y="3977640"/>
            <a:ext cx="2651760" cy="1828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9" y="41605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F472B6"/>
                </a:solidFill>
              </a:rPr>
              <a:t>גישה לכל החיים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46634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כולל כל העדכונים</a:t>
            </a:r>
          </a:p>
          <a:p>
            <a:pPr rtl="1" algn="r">
              <a:spcAft>
                <a:spcPts val="780"/>
              </a:spcAft>
            </a:pPr>
            <a:r>
              <a:rPr sz="1300">
                <a:solidFill>
                  <a:srgbClr val="8C8C8C"/>
                </a:solidFill>
              </a:rPr>
              <a:t>ותכנים חדשים שייצאו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14141"/>
                </a:solidFill>
              </a:defRPr>
            </a:pPr>
            <a:r>
              <a:t>29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32004" cy="4114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2286000"/>
            <a:ext cx="8686800" cy="9144"/>
          </a:xfrm>
          <a:prstGeom prst="rect">
            <a:avLst/>
          </a:prstGeom>
          <a:solidFill>
            <a:srgbClr val="41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4572000"/>
            <a:ext cx="8686800" cy="9144"/>
          </a:xfrm>
          <a:prstGeom prst="rect">
            <a:avLst/>
          </a:prstGeom>
          <a:solidFill>
            <a:srgbClr val="41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1887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0" b="1">
                <a:solidFill>
                  <a:srgbClr val="D4AF37"/>
                </a:solidFill>
              </a:rPr>
              <a:t>MGS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774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5F5F5"/>
                </a:solidFill>
              </a:rPr>
              <a:t>Money Growth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3017520"/>
            <a:ext cx="301752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32918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2600" b="0">
                <a:solidFill>
                  <a:srgbClr val="8C8C8C"/>
                </a:solidFill>
              </a:rPr>
              <a:t>המסע לחופש כלכלי מתחיל כאן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023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2000" b="0">
                <a:solidFill>
                  <a:srgbClr val="F5F5F5"/>
                </a:solidFill>
              </a:rPr>
              <a:t>עמית ואליאב מלכה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3035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000" b="0">
                <a:solidFill>
                  <a:srgbClr val="414141"/>
                </a:solidFill>
              </a:rPr>
              <a:t>אין באמור ייעוץ השקעות. כלי חינוכי בלבד. השקעה בשוק ההון כרוכה בסיכון.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